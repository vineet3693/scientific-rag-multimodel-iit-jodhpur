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B4D8"/>
                </a:solidFill>
              </a:rPr>
              <a:t>RAG 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Retrieval Augmented Generation – From Data to Intelligent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20440"/>
            <a:ext cx="1124712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BB2BF"/>
                </a:solidFill>
              </a:rPr>
              <a:t>Vineet Yadav  |  AI Engineer  |  LLM Orchestration Specialist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754880"/>
            <a:ext cx="128016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47731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LangChain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4754880"/>
            <a:ext cx="128016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7" y="47731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ChromaDB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17136" y="4754880"/>
            <a:ext cx="128016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5" y="47731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FAISS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4754880"/>
            <a:ext cx="128016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35624" y="47731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Gemini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62671" y="4754880"/>
            <a:ext cx="128016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8392" y="47731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Groq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4754880"/>
            <a:ext cx="128016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47731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Streamlit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Why Do LLMs Hallucinate?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6858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❌  LLMs have knowledge cutoff 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6858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❌  No access to private / domain-specific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6858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❌  Cannot cite sources accurately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6858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❌  Expensive to fine-tune for every use case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63440"/>
            <a:ext cx="6858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❌  Responses not grounded in real documents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371600"/>
            <a:ext cx="3931920" cy="4114800"/>
          </a:xfrm>
          <a:prstGeom prst="rect">
            <a:avLst/>
          </a:prstGeom>
          <a:solidFill>
            <a:srgbClr val="063A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</a:rPr>
              <a:t>✅ 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1031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RAG Pipeline
Retrieval Augmented
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5661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BB2BF"/>
                </a:solidFill>
              </a:rPr>
              <a:t>Ground LLM responses
in real documents
and live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What is RAG?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RAG = Retrieval System  +  LLM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3474720" cy="3200400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Knowledge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BB2BF"/>
                </a:solidFill>
              </a:rPr>
              <a:t>Your private documents
PDFs, DOCX, TXT, Web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103120"/>
            <a:ext cx="3474720" cy="3200400"/>
          </a:xfrm>
          <a:prstGeom prst="rect">
            <a:avLst/>
          </a:prstGeom>
          <a:solidFill>
            <a:srgbClr val="1B3A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2860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0175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Retrieval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11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BB2BF"/>
                </a:solidFill>
              </a:rPr>
              <a:t>Finds relevant context
Semantic + Hybrid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103120"/>
            <a:ext cx="3474720" cy="3200400"/>
          </a:xfrm>
          <a:prstGeom prst="rect">
            <a:avLst/>
          </a:prstGeom>
          <a:solidFill>
            <a:srgbClr val="2A1B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2860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0175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LLM 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611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BB2BF"/>
                </a:solidFill>
              </a:rPr>
              <a:t>Produces accurate response
Grounded in real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06D6A0"/>
                </a:solidFill>
              </a:rPr>
              <a:t>"Give the LLM the right context at the right time"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End-to-End RAG Pipeline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23444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8988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📄 Raw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1907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BB2BF"/>
                </a:solidFill>
              </a:rPr>
              <a:t>PDF / DOCX / 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544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719072" y="1371600"/>
            <a:ext cx="123444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38988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✂️ Text Chunking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71907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BB2BF"/>
                </a:solidFill>
              </a:rPr>
              <a:t>512–1024 token splits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15544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3824" y="1371600"/>
            <a:ext cx="123444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9544" y="138988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🔢 Embedding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9544" y="171907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BB2BF"/>
                </a:solidFill>
              </a:rPr>
              <a:t>Text → Vectors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15544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08576" y="1371600"/>
            <a:ext cx="123444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54296" y="138988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🗄️ Vector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171907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BB2BF"/>
                </a:solidFill>
              </a:rPr>
              <a:t>ChromaDB / FAISS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3016" y="15544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53328" y="1371600"/>
            <a:ext cx="123444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8" y="138988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🔍 Similarity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171907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BB2BF"/>
                </a:solidFill>
              </a:rPr>
              <a:t>Top-K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7768" y="15544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0" y="1371600"/>
            <a:ext cx="123444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138988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📝 Prompt Template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171907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BB2BF"/>
                </a:solidFill>
              </a:rPr>
              <a:t>Context + Query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15544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2832" y="1371600"/>
            <a:ext cx="123444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88552" y="138988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🤖 LLM 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88552" y="171907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BB2BF"/>
                </a:solidFill>
              </a:rPr>
              <a:t>Gemini / GPT / Groq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7272" y="15544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387584" y="1371600"/>
            <a:ext cx="123444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33304" y="138988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✅ Final 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33304" y="171907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BB2BF"/>
                </a:solidFill>
              </a:rPr>
              <a:t>Accurate &amp; Cited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286000"/>
            <a:ext cx="5303520" cy="457200"/>
          </a:xfrm>
          <a:prstGeom prst="rect">
            <a:avLst/>
          </a:prstGeom>
          <a:solidFill>
            <a:srgbClr val="0A25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2331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⬆️  INDEXING PHASE (Offline)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0" y="2286000"/>
            <a:ext cx="6126480" cy="457200"/>
          </a:xfrm>
          <a:prstGeom prst="rect">
            <a:avLst/>
          </a:prstGeom>
          <a:solidFill>
            <a:srgbClr val="0A2A2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2331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</a:rPr>
              <a:t>⬆️  QUERYING PHASE (Online)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926080"/>
            <a:ext cx="11612880" cy="3474720"/>
          </a:xfrm>
          <a:prstGeom prst="rect">
            <a:avLst/>
          </a:prstGeom>
          <a:solidFill>
            <a:srgbClr val="10203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Complete RAG 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52044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📥  INPUT LAYER       →  PDF Loader | DOCX Parser | Web Scraper | Text Files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✂️   PROCESSING LAYER  →  Text Splitter | Chunk Overlap | Token Counter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🔢  EMBEDDING LAYER   →  OpenAI Embeddings | HuggingFace | Sentence Transformers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🗄️   STORAGE LAYER     →  ChromaDB | FAISS | Pinecone | Weaviate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🔍  RETRIEVAL LAYER   →  Semantic Search | BM25 | Hybrid Search | Reranking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🤖  GENERATION LAYER  →  GPT-4 | Gemini Pro | Groq LLaMA | Claude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Step 1 – Document 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55448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070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Stage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188720"/>
            <a:ext cx="265176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2070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Process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188720"/>
            <a:ext cx="310896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120700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Tools Used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188720"/>
            <a:ext cx="402336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20700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1554480" cy="594360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5564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📥 Input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737360"/>
            <a:ext cx="2651760" cy="594360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7556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Load Documents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1737360"/>
            <a:ext cx="3108960" cy="594360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7556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LangChain Loaders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737360"/>
            <a:ext cx="4023360" cy="594360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75564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Raw Text Extracted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423160"/>
            <a:ext cx="1554480" cy="594360"/>
          </a:xfrm>
          <a:prstGeom prst="rect">
            <a:avLst/>
          </a:prstGeom>
          <a:solidFill>
            <a:srgbClr val="142435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4144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✂️ Chunking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2423160"/>
            <a:ext cx="2651760" cy="594360"/>
          </a:xfrm>
          <a:prstGeom prst="rect">
            <a:avLst/>
          </a:prstGeom>
          <a:solidFill>
            <a:srgbClr val="142435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414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Split into 512-1024 tokens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2423160"/>
            <a:ext cx="3108960" cy="594360"/>
          </a:xfrm>
          <a:prstGeom prst="rect">
            <a:avLst/>
          </a:prstGeom>
          <a:solidFill>
            <a:srgbClr val="142435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24414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RecursiveTextSplitter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2423160"/>
            <a:ext cx="4023360" cy="594360"/>
          </a:xfrm>
          <a:prstGeom prst="rect">
            <a:avLst/>
          </a:prstGeom>
          <a:solidFill>
            <a:srgbClr val="142435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44144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Text Chunks Created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108960"/>
            <a:ext cx="1554480" cy="594360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12724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🧹 Cleaning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3108960"/>
            <a:ext cx="2651760" cy="594360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1272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Remove noise &amp; format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3108960"/>
            <a:ext cx="3108960" cy="594360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31272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Python, Regex, NLTK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108960"/>
            <a:ext cx="4023360" cy="594360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312724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Clean Text Ready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794760"/>
            <a:ext cx="1554480" cy="594360"/>
          </a:xfrm>
          <a:prstGeom prst="rect">
            <a:avLst/>
          </a:prstGeom>
          <a:solidFill>
            <a:srgbClr val="142435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81304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🔢 Embedding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3794760"/>
            <a:ext cx="2651760" cy="594360"/>
          </a:xfrm>
          <a:prstGeom prst="rect">
            <a:avLst/>
          </a:prstGeom>
          <a:solidFill>
            <a:srgbClr val="142435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38130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Convert text → vectors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794760"/>
            <a:ext cx="3108960" cy="594360"/>
          </a:xfrm>
          <a:prstGeom prst="rect">
            <a:avLst/>
          </a:prstGeom>
          <a:solidFill>
            <a:srgbClr val="142435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38130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OpenAI / HuggingFace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3794760"/>
            <a:ext cx="4023360" cy="594360"/>
          </a:xfrm>
          <a:prstGeom prst="rect">
            <a:avLst/>
          </a:prstGeom>
          <a:solidFill>
            <a:srgbClr val="142435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381304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Float Vectors Generated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480560"/>
            <a:ext cx="1554480" cy="594360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49884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💾 Storage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03120" y="4480560"/>
            <a:ext cx="2651760" cy="594360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44988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Store in vector DB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0" y="4480560"/>
            <a:ext cx="3108960" cy="594360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0" y="44988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ChromaDB / FAISS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60" y="4480560"/>
            <a:ext cx="4023360" cy="594360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0" y="449884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Indexed &amp; Searchable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303520"/>
            <a:ext cx="11430000" cy="1280160"/>
          </a:xfrm>
          <a:prstGeom prst="rect">
            <a:avLst/>
          </a:prstGeom>
          <a:solidFill>
            <a:srgbClr val="062A1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🚀  Your Project Result: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5806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6 Chemical Engineering Textbooks  →  1,666 Chunks  →  ChromaDB  →  ~90% Answer Relevance 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Step 2 – Hybrid Retrieval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4114800"/>
          </a:xfrm>
          <a:prstGeom prst="rect">
            <a:avLst/>
          </a:prstGeom>
          <a:solidFill>
            <a:srgbClr val="0A20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🔵  Semantic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Converts query to embedding 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Finds similar vectors (cosine similarity)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Understands meaning not just keywords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Best for: Conceptual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Uses: ChromaDB / FAISS index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303520" cy="4114800"/>
          </a:xfrm>
          <a:prstGeom prst="rect">
            <a:avLst/>
          </a:prstGeom>
          <a:solidFill>
            <a:srgbClr val="0A2A1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D6A0"/>
                </a:solidFill>
              </a:rPr>
              <a:t>🟢  Internet / Keyword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Real-time web search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23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Fetches current / live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Best for: Recent events &amp; live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429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Uses: SerpAPI / DuckDuckGo / Tavily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Combines with semantic for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560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486400"/>
            <a:ext cx="11430000" cy="1005840"/>
          </a:xfrm>
          <a:prstGeom prst="rect">
            <a:avLst/>
          </a:prstGeom>
          <a:solidFill>
            <a:srgbClr val="1A3525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623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D6A0"/>
                </a:solidFill>
              </a:rPr>
              <a:t>⭐  Hybrid = Semantic + Internet Search  →  ~90% Improvement in Answer Relevance 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Step 3 – LLM Response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943600" cy="4389120"/>
          </a:xfrm>
          <a:prstGeom prst="rect">
            <a:avLst/>
          </a:prstGeom>
          <a:solidFill>
            <a:srgbClr val="10182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📝  Prompt Template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577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00B4D8"/>
                </a:solidFill>
              </a:rPr>
              <a:t>SYSTEM: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ABB2BF"/>
                </a:solidFill>
              </a:rPr>
              <a:t>  You are an expert assistant.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ABB2BF"/>
                </a:solidFill>
              </a:rPr>
              <a:t>  Answer ONLY using context below.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B4D8"/>
                </a:solidFill>
              </a:rPr>
              <a:t>CONTEXT: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06D6A0"/>
                </a:solidFill>
              </a:rPr>
              <a:t>  {retrieved_chunks}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B4D8"/>
                </a:solidFill>
              </a:rPr>
              <a:t>QUESTION: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06D6A0"/>
                </a:solidFill>
              </a:rPr>
              <a:t>  {user_query}</a:t>
            </a:r>
          </a:p>
          <a:p>
            <a:pPr>
              <a:spcBef>
                <a:spcPts val="400"/>
              </a:spcBef>
            </a:pPr>
            <a:r>
              <a:rPr sz="6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0B4D8"/>
                </a:solidFill>
              </a:rPr>
              <a:t>ANSWER: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ABB2BF"/>
                </a:solidFill>
              </a:rPr>
              <a:t>  [LLM generates grounded response]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🤖  LLM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737360"/>
            <a:ext cx="132588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5564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737360"/>
            <a:ext cx="9601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7556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Speed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1737360"/>
            <a:ext cx="86868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7556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12680" y="1737360"/>
            <a:ext cx="1691639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1755648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Quality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240280"/>
            <a:ext cx="1325880" cy="530352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2585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GPT-4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240280"/>
            <a:ext cx="960120" cy="530352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2585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240280"/>
            <a:ext cx="868680" cy="530352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25856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$$$$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12680" y="2240280"/>
            <a:ext cx="1691639" cy="530352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2258568"/>
            <a:ext cx="1645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⭐⭐⭐⭐⭐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834640"/>
            <a:ext cx="1325880" cy="530352"/>
          </a:xfrm>
          <a:prstGeom prst="rect">
            <a:avLst/>
          </a:prstGeom>
          <a:solidFill>
            <a:srgbClr val="142435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Gemini Pro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2834640"/>
            <a:ext cx="960120" cy="530352"/>
          </a:xfrm>
          <a:prstGeom prst="rect">
            <a:avLst/>
          </a:prstGeom>
          <a:solidFill>
            <a:srgbClr val="142435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28529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Fast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2834640"/>
            <a:ext cx="868680" cy="530352"/>
          </a:xfrm>
          <a:prstGeom prst="rect">
            <a:avLst/>
          </a:prstGeom>
          <a:solidFill>
            <a:srgbClr val="142435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28529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$$$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12680" y="2834640"/>
            <a:ext cx="1691639" cy="530352"/>
          </a:xfrm>
          <a:prstGeom prst="rect">
            <a:avLst/>
          </a:prstGeom>
          <a:solidFill>
            <a:srgbClr val="142435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2852928"/>
            <a:ext cx="1645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⭐⭐⭐⭐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429000"/>
            <a:ext cx="1325880" cy="530352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344728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Groq LLaMA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3429000"/>
            <a:ext cx="960120" cy="530352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4472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Very Fast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3429000"/>
            <a:ext cx="868680" cy="530352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8280" y="344728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12680" y="3429000"/>
            <a:ext cx="1691639" cy="530352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0" y="3447288"/>
            <a:ext cx="1645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⭐⭐⭐⭐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4023360"/>
            <a:ext cx="1325880" cy="530352"/>
          </a:xfrm>
          <a:prstGeom prst="rect">
            <a:avLst/>
          </a:prstGeom>
          <a:solidFill>
            <a:srgbClr val="142435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404164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Claude 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01000" y="4023360"/>
            <a:ext cx="960120" cy="530352"/>
          </a:xfrm>
          <a:prstGeom prst="rect">
            <a:avLst/>
          </a:prstGeom>
          <a:solidFill>
            <a:srgbClr val="142435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40416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Fast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2560" y="4023360"/>
            <a:ext cx="868680" cy="530352"/>
          </a:xfrm>
          <a:prstGeom prst="rect">
            <a:avLst/>
          </a:prstGeom>
          <a:solidFill>
            <a:srgbClr val="142435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40416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$$$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12680" y="4023360"/>
            <a:ext cx="1691639" cy="530352"/>
          </a:xfrm>
          <a:prstGeom prst="rect">
            <a:avLst/>
          </a:prstGeom>
          <a:solidFill>
            <a:srgbClr val="142435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0" y="4041648"/>
            <a:ext cx="1645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⭐⭐⭐⭐⭐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4617720"/>
            <a:ext cx="1325880" cy="530352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0" y="46360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Mistral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01000" y="4617720"/>
            <a:ext cx="960120" cy="530352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0" y="46360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Fast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52560" y="4617720"/>
            <a:ext cx="868680" cy="530352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98280" y="463600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$$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12680" y="4617720"/>
            <a:ext cx="1691639" cy="530352"/>
          </a:xfrm>
          <a:prstGeom prst="rect">
            <a:avLst/>
          </a:prstGeom>
          <a:solidFill>
            <a:srgbClr val="1B2A3B"/>
          </a:solidFill>
          <a:ln w="635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0" y="4636008"/>
            <a:ext cx="1645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⭐⭐⭐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Chemical Engineering RAG System – Live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651760" cy="25603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Answer
Relevance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BB2BF"/>
                </a:solidFill>
              </a:rPr>
              <a:t>~45%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23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4231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</a:rPr>
              <a:t>~90%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188720"/>
            <a:ext cx="2651760" cy="25603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280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828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Source
Citation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42316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BB2BF"/>
                </a:solidFill>
              </a:rPr>
              <a:t>❌ None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423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4231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</a:rPr>
              <a:t>✅ PDF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2651760" cy="25603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280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828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Hallucination
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42316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BB2BF"/>
                </a:solidFill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423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4231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Very 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1188720"/>
            <a:ext cx="2651760" cy="25603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1280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1828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Domain
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42316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BB2BF"/>
                </a:solidFill>
              </a:rPr>
              <a:t>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423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24231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📈  Answer Relevance Comparison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572000"/>
            <a:ext cx="2286000" cy="36576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17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Vanilla LLM  ~45%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120640"/>
            <a:ext cx="4572000" cy="3657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166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RAG Pipeline  ~90% 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931920"/>
            <a:ext cx="5577840" cy="2560320"/>
          </a:xfrm>
          <a:prstGeom prst="rect">
            <a:avLst/>
          </a:prstGeom>
          <a:solidFill>
            <a:srgbClr val="062A1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023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B2BF"/>
                </a:solidFill>
              </a:rPr>
              <a:t>📚  Textbooks Processed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40233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6 Chemical Engg. Books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4074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B2BF"/>
                </a:solidFill>
              </a:rPr>
              <a:t>✂️   Total Chunks Created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4074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1,666 Text Chunks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7914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B2BF"/>
                </a:solidFill>
              </a:rPr>
              <a:t>🗄️   Vector Database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47914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ChromaDB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1755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B2BF"/>
                </a:solidFill>
              </a:rPr>
              <a:t>🔍  Retrieval Strategy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51755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Hybrid (Semantic + Web)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5595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B2BF"/>
                </a:solidFill>
              </a:rPr>
              <a:t>📄  Output Format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5595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PDF / DOCX Export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943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B2BF"/>
                </a:solidFill>
              </a:rPr>
              <a:t>🖥️   Interface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5943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Streamlit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RAG Pipeline – Full 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1417320"/>
          </a:xfrm>
          <a:prstGeom prst="rect">
            <a:avLst/>
          </a:prstGeom>
          <a:solidFill>
            <a:srgbClr val="1B355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1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202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BB2BF"/>
                </a:solidFill>
              </a:rPr>
              <a:t>Core 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566160" cy="1417320"/>
          </a:xfrm>
          <a:prstGeom prst="rect">
            <a:avLst/>
          </a:prstGeom>
          <a:solidFill>
            <a:srgbClr val="1B3A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71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41731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LangChain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9202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BB2BF"/>
                </a:solidFill>
              </a:rPr>
              <a:t>Pipeline Orchestration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280160"/>
            <a:ext cx="3566160" cy="1417320"/>
          </a:xfrm>
          <a:prstGeom prst="rect">
            <a:avLst/>
          </a:prstGeom>
          <a:solidFill>
            <a:srgbClr val="2A1B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371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41731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ChromaDB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9202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BB2BF"/>
                </a:solidFill>
              </a:rPr>
              <a:t>Vector Database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3566160" cy="1417320"/>
          </a:xfrm>
          <a:prstGeom prst="rect">
            <a:avLst/>
          </a:prstGeom>
          <a:solidFill>
            <a:srgbClr val="1B355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0175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063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Embeddings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566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BB2BF"/>
                </a:solidFill>
              </a:rPr>
              <a:t>Semantic Understanding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926080"/>
            <a:ext cx="3566160" cy="1417320"/>
          </a:xfrm>
          <a:prstGeom prst="rect">
            <a:avLst/>
          </a:prstGeom>
          <a:solidFill>
            <a:srgbClr val="1B3A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0175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063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Semantic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566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BB2BF"/>
                </a:solidFill>
              </a:rPr>
              <a:t>Context Retrieval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2926080"/>
            <a:ext cx="3566160" cy="1417320"/>
          </a:xfrm>
          <a:prstGeom prst="rect">
            <a:avLst/>
          </a:prstGeom>
          <a:solidFill>
            <a:srgbClr val="2A1B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0175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063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Gemini / Groq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566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BB2BF"/>
                </a:solidFill>
              </a:rPr>
              <a:t>LLM Generation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72000"/>
            <a:ext cx="3566160" cy="1417320"/>
          </a:xfrm>
          <a:prstGeom prst="rect">
            <a:avLst/>
          </a:prstGeom>
          <a:solidFill>
            <a:srgbClr val="1B355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634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709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Streamlit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212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BB2BF"/>
                </a:solidFill>
              </a:rPr>
              <a:t>User Interface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4572000"/>
            <a:ext cx="3566160" cy="1417320"/>
          </a:xfrm>
          <a:prstGeom prst="rect">
            <a:avLst/>
          </a:prstGeom>
          <a:solidFill>
            <a:srgbClr val="1B3A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46634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4709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PDF/DOCX Export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5212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BB2BF"/>
                </a:solidFill>
              </a:rPr>
              <a:t>Output Delivery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4572000"/>
            <a:ext cx="3566160" cy="1417320"/>
          </a:xfrm>
          <a:prstGeom prst="rect">
            <a:avLst/>
          </a:prstGeom>
          <a:solidFill>
            <a:srgbClr val="2A1B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46634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709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FastAPI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5212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BB2BF"/>
                </a:solidFill>
              </a:rPr>
              <a:t>REST API Backend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Why RAG is the Future of AI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No Hallucinations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727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BB2BF"/>
                </a:solidFill>
              </a:rPr>
              <a:t>Responses grounded in real documents &amp; verified 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1143000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7627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762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No Retraining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871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BB2BF"/>
                </a:solidFill>
              </a:rPr>
              <a:t>Simply update the knowledge base — no expensive fine-tuning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1143000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9067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906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Domain Specific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015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BB2BF"/>
                </a:solidFill>
              </a:rPr>
              <a:t>Works perfectly on private &amp; proprietary documents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1143000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00507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005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Cost Effective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159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BB2BF"/>
                </a:solidFill>
              </a:rPr>
              <a:t>Far cheaper than fine-tuning large language models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46320"/>
            <a:ext cx="1143000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91947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19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Production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230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BB2BF"/>
                </a:solidFill>
              </a:rPr>
              <a:t>Scalable architecture deployable via FastAPI &amp; Docker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852160"/>
            <a:ext cx="11430000" cy="822960"/>
          </a:xfrm>
          <a:prstGeom prst="rect">
            <a:avLst/>
          </a:prstGeom>
          <a:solidFill>
            <a:srgbClr val="062A1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🚀  Built &amp; Deployed by Vineet Yadav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94360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LangChain  |  ChromaDB  |  Streamlit  |  FastAPI  |  Gemini  |  Groq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